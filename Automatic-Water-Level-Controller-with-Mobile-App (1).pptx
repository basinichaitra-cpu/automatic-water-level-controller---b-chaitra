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BM Plex Sans Medium"/>
      <p:regular r:id="rId17"/>
    </p:embeddedFont>
    <p:embeddedFont>
      <p:font typeface="IBM Plex Sans Medium"/>
      <p:regular r:id="rId18"/>
    </p:embeddedFont>
    <p:embeddedFont>
      <p:font typeface="IBM Plex Sans Medium"/>
      <p:regular r:id="rId19"/>
    </p:embeddedFont>
    <p:embeddedFont>
      <p:font typeface="IBM Plex Sans Medium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Automatic Water Level Controller with Mobile App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IoT-Based Smart Water Management System for Real-time Monitoring and Automatic Control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11981"/>
            <a:ext cx="8699659" cy="69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Water Management Challenge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6526" y="1749028"/>
            <a:ext cx="13077349" cy="355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manual monitoring creates significant inefficiencies and risks for property owners worldwide.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6526" y="2353628"/>
            <a:ext cx="6427708" cy="2521029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5" name="Shape 3"/>
          <p:cNvSpPr/>
          <p:nvPr/>
        </p:nvSpPr>
        <p:spPr>
          <a:xfrm>
            <a:off x="998339" y="2575441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FFBC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457" y="2758440"/>
            <a:ext cx="299442" cy="2994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339" y="346293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Excessive Wastage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8339" y="3942755"/>
            <a:ext cx="5984081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 to 30% of water wasted annually through tank overflow due to inadequate monitoring systems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6047" y="2353628"/>
            <a:ext cx="6427827" cy="2521029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0" name="Shape 7"/>
          <p:cNvSpPr/>
          <p:nvPr/>
        </p:nvSpPr>
        <p:spPr>
          <a:xfrm>
            <a:off x="7647861" y="2575441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FFBC8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0979" y="2758440"/>
            <a:ext cx="299442" cy="2994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7861" y="346293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Rising Energy Costs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47861" y="3942755"/>
            <a:ext cx="5984200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Pump overrun significantly increases electricity consumption, adding unnecessary expense to monthly bills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76526" y="5096470"/>
            <a:ext cx="6427708" cy="2521029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15" name="Shape 11"/>
          <p:cNvSpPr/>
          <p:nvPr/>
        </p:nvSpPr>
        <p:spPr>
          <a:xfrm>
            <a:off x="998339" y="5318284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FFBC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457" y="5501283"/>
            <a:ext cx="299442" cy="2994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339" y="6205776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Equipment Damage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998339" y="6685598"/>
            <a:ext cx="5984081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running causes severe pump damage, resulting in costly repairs and premature replacement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26047" y="5096470"/>
            <a:ext cx="6427827" cy="2521029"/>
          </a:xfrm>
          <a:prstGeom prst="roundRect">
            <a:avLst>
              <a:gd name="adj" fmla="val 1320"/>
            </a:avLst>
          </a:prstGeom>
          <a:solidFill>
            <a:srgbClr val="484B51"/>
          </a:solidFill>
          <a:ln/>
        </p:spPr>
      </p:sp>
      <p:sp>
        <p:nvSpPr>
          <p:cNvPr id="20" name="Shape 15"/>
          <p:cNvSpPr/>
          <p:nvPr/>
        </p:nvSpPr>
        <p:spPr>
          <a:xfrm>
            <a:off x="7647861" y="5318284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FFBC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30979" y="5501283"/>
            <a:ext cx="299442" cy="2994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7861" y="6205776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Limited Visibility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7647861" y="6685598"/>
            <a:ext cx="5984200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real-time insights when away from property, leaving systems unmonitored for extended periods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315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Market Opportunity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8905"/>
            <a:ext cx="396287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Massive Growth Potential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21010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global smart water management market is experiencing explosive growth, projected to reach $21.4 billion by 2028 as consumers seek automated solutions.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13791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Currently, 70% of households worldwide still rely on inefficient manual monitoring methods, representing an enormous untapped market opportunity.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906572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Rising utility costs and environmental awareness are accelerating adoption across residential, commercial, and industrial sectors.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279249" y="2810589"/>
            <a:ext cx="264068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$21.4B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8279249" y="3842385"/>
            <a:ext cx="26406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Market Value 2028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203424" y="2810589"/>
            <a:ext cx="264068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70%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1203424" y="3842385"/>
            <a:ext cx="26406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Systems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79249" y="4451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 Segments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79249" y="5033010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Residential homes and apartments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79249" y="5475208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Hotels and hospitality facilities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79249" y="5917406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Hospitals and healthcare centres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279249" y="6359604"/>
            <a:ext cx="55648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Industrial complexes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766763"/>
            <a:ext cx="5790724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Our Intelligent Solution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6642" y="1874758"/>
            <a:ext cx="4228267" cy="2689979"/>
          </a:xfrm>
          <a:prstGeom prst="roundRect">
            <a:avLst>
              <a:gd name="adj" fmla="val 5439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6162" y="1874758"/>
            <a:ext cx="121920" cy="2689979"/>
          </a:xfrm>
          <a:prstGeom prst="roundRect">
            <a:avLst>
              <a:gd name="adj" fmla="val 26602"/>
            </a:avLst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1094661" y="2121337"/>
            <a:ext cx="3038951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Automatic Pump Control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94661" y="2588776"/>
            <a:ext cx="3643670" cy="172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system automatically activates and deactivates pumps based on precise water level measurements, eliminating manual intervention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007" y="1874758"/>
            <a:ext cx="4228267" cy="2689979"/>
          </a:xfrm>
          <a:prstGeom prst="roundRect">
            <a:avLst>
              <a:gd name="adj" fmla="val 5439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0527" y="1874758"/>
            <a:ext cx="121920" cy="2689979"/>
          </a:xfrm>
          <a:prstGeom prst="roundRect">
            <a:avLst>
              <a:gd name="adj" fmla="val 26602"/>
            </a:avLst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5539026" y="2121337"/>
            <a:ext cx="351496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Real-time Mobile Dashboard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39026" y="2588776"/>
            <a:ext cx="364367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monitoring interface provides instant visibility into water levels, pump status, and system health from anywhere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5372" y="1874758"/>
            <a:ext cx="4228267" cy="2689979"/>
          </a:xfrm>
          <a:prstGeom prst="roundRect">
            <a:avLst>
              <a:gd name="adj" fmla="val 5439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14892" y="1874758"/>
            <a:ext cx="121920" cy="2689979"/>
          </a:xfrm>
          <a:prstGeom prst="roundRect">
            <a:avLst>
              <a:gd name="adj" fmla="val 26602"/>
            </a:avLst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9983391" y="2121337"/>
            <a:ext cx="334672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Override Capability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83391" y="2588776"/>
            <a:ext cx="364367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 control allows users to manually operate pumps when needed whilst maintaining automated protection features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6642" y="4780836"/>
            <a:ext cx="4228267" cy="2681883"/>
          </a:xfrm>
          <a:prstGeom prst="roundRect">
            <a:avLst>
              <a:gd name="adj" fmla="val 545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162" y="4780836"/>
            <a:ext cx="121920" cy="2681883"/>
          </a:xfrm>
          <a:prstGeom prst="roundRect">
            <a:avLst>
              <a:gd name="adj" fmla="val 26602"/>
            </a:avLst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1094661" y="5027414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Instant Alert System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94661" y="5494853"/>
            <a:ext cx="364367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notifications warn of critical conditions including overflow risk, dry-run scenarios, and connectivity issues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201007" y="4780836"/>
            <a:ext cx="4228267" cy="2681883"/>
          </a:xfrm>
          <a:prstGeom prst="roundRect">
            <a:avLst>
              <a:gd name="adj" fmla="val 5455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0527" y="4780836"/>
            <a:ext cx="121920" cy="2681883"/>
          </a:xfrm>
          <a:prstGeom prst="roundRect">
            <a:avLst>
              <a:gd name="adj" fmla="val 26602"/>
            </a:avLst>
          </a:prstGeom>
          <a:solidFill>
            <a:srgbClr val="FFBC8F"/>
          </a:solidFill>
          <a:ln/>
        </p:spPr>
      </p:sp>
      <p:sp>
        <p:nvSpPr>
          <p:cNvPr id="21" name="Text 19"/>
          <p:cNvSpPr/>
          <p:nvPr/>
        </p:nvSpPr>
        <p:spPr>
          <a:xfrm>
            <a:off x="5539026" y="5027414"/>
            <a:ext cx="3643670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Comprehensive Pump Protection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539026" y="5832634"/>
            <a:ext cx="3643670" cy="1383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dry-run detection prevents costly equipment damage by automatically shutting down pumps when water levels are critically low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534" y="513517"/>
            <a:ext cx="4668798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Technology Stack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53534" y="1470541"/>
            <a:ext cx="13323332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robust, industry-standard components ensuring reliability, scalability, and ease of maintenance.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3534" y="2189440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3534" y="2483882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653534" y="2622947"/>
            <a:ext cx="233433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Sensor Layer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3534" y="3101459"/>
            <a:ext cx="643389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Ultrasonic HC-SR04 sensors or float switches for precise water level detection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3534" y="4025860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3534" y="4320302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8"/>
          <p:cNvSpPr/>
          <p:nvPr/>
        </p:nvSpPr>
        <p:spPr>
          <a:xfrm>
            <a:off x="653534" y="4459367"/>
            <a:ext cx="233433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Control Processing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534" y="4937879"/>
            <a:ext cx="643389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or Arduino microcontroller for intelligent decision-making and pump control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3534" y="5862280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3534" y="6156722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653534" y="6295787"/>
            <a:ext cx="2631281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Communication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534" y="6774299"/>
            <a:ext cx="643389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WiFi connectivity with MQTT messaging for reliable, real-time data transmission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50587" y="2189440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550587" y="2483882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7550587" y="2622947"/>
            <a:ext cx="233433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Frontend Interface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50587" y="3101459"/>
            <a:ext cx="643389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framework with TypeScript for type-safe, responsive user interfaces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50587" y="3727013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50587" y="4021455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2" name="Text 20"/>
          <p:cNvSpPr/>
          <p:nvPr/>
        </p:nvSpPr>
        <p:spPr>
          <a:xfrm>
            <a:off x="7550587" y="4160520"/>
            <a:ext cx="233433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Styling Framework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550587" y="4639032"/>
            <a:ext cx="643389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Tailwind CSS for modern, consistent, and mobile-optimised design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50587" y="5264587"/>
            <a:ext cx="186690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550587" y="5559028"/>
            <a:ext cx="643389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6" name="Text 24"/>
          <p:cNvSpPr/>
          <p:nvPr/>
        </p:nvSpPr>
        <p:spPr>
          <a:xfrm>
            <a:off x="7550587" y="5698093"/>
            <a:ext cx="2334339" cy="291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Application Platform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50587" y="6176605"/>
            <a:ext cx="6433899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Progressive Web App architecture enabling installation and offline functionality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9136" y="557213"/>
            <a:ext cx="5065633" cy="633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Architecture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36" y="1595557"/>
            <a:ext cx="1013103" cy="121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4764" y="1798082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Continuous Sensing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24764" y="2236113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measure water levels with high precision at regular intervals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6" y="2811304"/>
            <a:ext cx="1013103" cy="12157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4764" y="3013829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Intelligent Processing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24764" y="3451860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Controller analyses data and executes pump control logic automatically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36" y="4027051"/>
            <a:ext cx="1013103" cy="12157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24764" y="4229576"/>
            <a:ext cx="255686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Cloud Communication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24764" y="4667607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data transmitted securely to cloud infrastructure via WiFi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36" y="5242798"/>
            <a:ext cx="1013103" cy="12157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24764" y="5445323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User Interface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24764" y="5883354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app displays live status, enabling remote monitoring and control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36" y="6458545"/>
            <a:ext cx="1013103" cy="12157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24764" y="6661071"/>
            <a:ext cx="253281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Flexible Operation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924764" y="7099102"/>
            <a:ext cx="11996499" cy="324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switching between automatic and manual control modes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021" y="432911"/>
            <a:ext cx="4389596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Feature-Rich Dashboard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021" y="1338024"/>
            <a:ext cx="5180886" cy="5180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23623" y="1318379"/>
            <a:ext cx="42331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Comprehensive Monitoring Capabilities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123623" y="1790700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6" name="Text 3"/>
          <p:cNvSpPr/>
          <p:nvPr/>
        </p:nvSpPr>
        <p:spPr>
          <a:xfrm>
            <a:off x="6635234" y="1844754"/>
            <a:ext cx="2176224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Live Water Level Display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35234" y="2248138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Precise percentage-based readouts updated in real-time with visual indicators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3623" y="2814757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9" name="Text 6"/>
          <p:cNvSpPr/>
          <p:nvPr/>
        </p:nvSpPr>
        <p:spPr>
          <a:xfrm>
            <a:off x="6635234" y="2868811"/>
            <a:ext cx="2039779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Intelligent Automation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35234" y="3272195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 pump activation at low threshold, deactivation when full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3623" y="3838813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2" name="Text 9"/>
          <p:cNvSpPr/>
          <p:nvPr/>
        </p:nvSpPr>
        <p:spPr>
          <a:xfrm>
            <a:off x="6635234" y="3892868"/>
            <a:ext cx="2191941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Manual Control Override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35234" y="4296251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One-touch manual operation with maintained safety protections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3623" y="4862870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5" name="Text 12"/>
          <p:cNvSpPr/>
          <p:nvPr/>
        </p:nvSpPr>
        <p:spPr>
          <a:xfrm>
            <a:off x="6635234" y="4916924"/>
            <a:ext cx="1968103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System Health Status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35234" y="5320308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Instant connectivity indicators and device status monitoring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3623" y="5886926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8" name="Text 15"/>
          <p:cNvSpPr/>
          <p:nvPr/>
        </p:nvSpPr>
        <p:spPr>
          <a:xfrm>
            <a:off x="6635234" y="5940981"/>
            <a:ext cx="1968103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Alert Management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35234" y="6344364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notification history with detailed event logging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3623" y="6910983"/>
            <a:ext cx="354211" cy="354211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1" name="Text 18"/>
          <p:cNvSpPr/>
          <p:nvPr/>
        </p:nvSpPr>
        <p:spPr>
          <a:xfrm>
            <a:off x="6635234" y="6965037"/>
            <a:ext cx="2039183" cy="245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Modern Dark Interface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635234" y="7368421"/>
            <a:ext cx="7451765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Eye-friendly themed dashboard optimised for extended viewing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199" y="502920"/>
            <a:ext cx="4572953" cy="571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Measurable Benefits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199" y="1440299"/>
            <a:ext cx="13350002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Delivering substantial value across environmental sustainability, cost savings, and operational efficiency.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95588" y="3127534"/>
            <a:ext cx="2249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30%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8652" y="1984296"/>
            <a:ext cx="2743795" cy="2743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77252" y="4956691"/>
            <a:ext cx="228647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Water Conservation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199" y="5352098"/>
            <a:ext cx="6560701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Reduction in wastage through overflow prevention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84888" y="3127534"/>
            <a:ext cx="22498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6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25%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953" y="1984296"/>
            <a:ext cx="2743795" cy="27437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66553" y="4956691"/>
            <a:ext cx="228647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Energy Savings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29500" y="5352098"/>
            <a:ext cx="6560701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electricity bills from optimised pump operation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199" y="6056114"/>
            <a:ext cx="6451878" cy="1465183"/>
          </a:xfrm>
          <a:prstGeom prst="roundRect">
            <a:avLst>
              <a:gd name="adj" fmla="val 1873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5939" y="6261854"/>
            <a:ext cx="228647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Equipment Longevity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45939" y="6730484"/>
            <a:ext cx="6040398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Dry-run protection significantly extends pump lifespan, reducing replacement frequency and maintenance costs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545943" y="6056114"/>
            <a:ext cx="6451878" cy="1465183"/>
          </a:xfrm>
          <a:prstGeom prst="roundRect">
            <a:avLst>
              <a:gd name="adj" fmla="val 1873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51683" y="6261854"/>
            <a:ext cx="229516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Ultimate Convenience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751683" y="6730484"/>
            <a:ext cx="6040398" cy="585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peace of mind with remote monitoring capabilities from anywhere in the world via smartphone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6046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Competitive Advantage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68391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595205"/>
            <a:ext cx="28751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Affordable Entry Point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08562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system components cost just $30-50, making smart water management accessible to all property types and budgets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368391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6" y="2595205"/>
            <a:ext cx="3285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Intuitive User Experience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08562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Carefully designed interface requires no technical expertise, with clear visual indicators and straightforward controls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368391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484B51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25952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Zero Recurring Fees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08562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monthly subscriptions or hidden costs—full functionality with one-time hardware investment only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2032754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217676"/>
            <a:ext cx="29462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Highly Scalable Design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5708094"/>
            <a:ext cx="59543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supports expansion from single residential tanks to multi-facility commercial deployments with customisation options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2032754"/>
          </a:xfrm>
          <a:prstGeom prst="roundRect">
            <a:avLst>
              <a:gd name="adj" fmla="val 1674"/>
            </a:avLst>
          </a:prstGeom>
          <a:solidFill>
            <a:srgbClr val="484B51"/>
          </a:solidFill>
          <a:ln/>
        </p:spPr>
      </p:sp>
      <p:sp>
        <p:nvSpPr>
          <p:cNvPr id="16" name="Text 14"/>
          <p:cNvSpPr/>
          <p:nvPr/>
        </p:nvSpPr>
        <p:spPr>
          <a:xfrm>
            <a:off x="7655362" y="5217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Open Standards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55362" y="5708094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 on industry-standard protocols ensuring compatibility, easy maintenance, and future integration possibilities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290" y="478036"/>
            <a:ext cx="6060281" cy="5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Development 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8290" y="1368743"/>
            <a:ext cx="1341381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enhancements planned to expand functionality and deliver even greater value to users.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82122" y="2103001"/>
            <a:ext cx="173712" cy="782122"/>
          </a:xfrm>
          <a:prstGeom prst="roundRect">
            <a:avLst>
              <a:gd name="adj" fmla="val 15009"/>
            </a:avLst>
          </a:prstGeom>
          <a:solidFill>
            <a:srgbClr val="484B51"/>
          </a:solidFill>
          <a:ln/>
        </p:spPr>
      </p:sp>
      <p:sp>
        <p:nvSpPr>
          <p:cNvPr id="5" name="Shape 3"/>
          <p:cNvSpPr/>
          <p:nvPr/>
        </p:nvSpPr>
        <p:spPr>
          <a:xfrm>
            <a:off x="608290" y="1988939"/>
            <a:ext cx="521375" cy="521375"/>
          </a:xfrm>
          <a:prstGeom prst="roundRect">
            <a:avLst>
              <a:gd name="adj" fmla="val 87691"/>
            </a:avLst>
          </a:prstGeom>
          <a:solidFill>
            <a:srgbClr val="484B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8664" y="2119313"/>
            <a:ext cx="260628" cy="260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3377" y="2016085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Advanced Analytics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03377" y="2391847"/>
            <a:ext cx="12718733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water consumption tracking with usage patterns, trend analysis, and efficiency recommendations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042749" y="3319582"/>
            <a:ext cx="173712" cy="782122"/>
          </a:xfrm>
          <a:prstGeom prst="roundRect">
            <a:avLst>
              <a:gd name="adj" fmla="val 15009"/>
            </a:avLst>
          </a:prstGeom>
          <a:solidFill>
            <a:srgbClr val="484B51"/>
          </a:solidFill>
          <a:ln/>
        </p:spPr>
      </p:sp>
      <p:sp>
        <p:nvSpPr>
          <p:cNvPr id="10" name="Shape 7"/>
          <p:cNvSpPr/>
          <p:nvPr/>
        </p:nvSpPr>
        <p:spPr>
          <a:xfrm>
            <a:off x="868918" y="3205520"/>
            <a:ext cx="521375" cy="521375"/>
          </a:xfrm>
          <a:prstGeom prst="roundRect">
            <a:avLst>
              <a:gd name="adj" fmla="val 87691"/>
            </a:avLst>
          </a:prstGeom>
          <a:solidFill>
            <a:srgbClr val="484B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292" y="3335893"/>
            <a:ext cx="260628" cy="260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64005" y="3232666"/>
            <a:ext cx="2331006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Predictive Maintenance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564005" y="3608427"/>
            <a:ext cx="12458105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algorithms to forecast equipment issues and schedule preventive maintenance proactively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1303496" y="4536162"/>
            <a:ext cx="173712" cy="782122"/>
          </a:xfrm>
          <a:prstGeom prst="roundRect">
            <a:avLst>
              <a:gd name="adj" fmla="val 15009"/>
            </a:avLst>
          </a:prstGeom>
          <a:solidFill>
            <a:srgbClr val="484B51"/>
          </a:solidFill>
          <a:ln/>
        </p:spPr>
      </p:sp>
      <p:sp>
        <p:nvSpPr>
          <p:cNvPr id="15" name="Shape 11"/>
          <p:cNvSpPr/>
          <p:nvPr/>
        </p:nvSpPr>
        <p:spPr>
          <a:xfrm>
            <a:off x="1129665" y="4422100"/>
            <a:ext cx="521375" cy="521375"/>
          </a:xfrm>
          <a:prstGeom prst="roundRect">
            <a:avLst>
              <a:gd name="adj" fmla="val 87691"/>
            </a:avLst>
          </a:prstGeom>
          <a:solidFill>
            <a:srgbClr val="484B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0038" y="4552474"/>
            <a:ext cx="260628" cy="260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4752" y="4449247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Voice Integration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4752" y="4825008"/>
            <a:ext cx="1219735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 control through Amazon Alexa, Google Assistant, and Apple Siri for hands-free operation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1564243" y="5752743"/>
            <a:ext cx="173712" cy="782122"/>
          </a:xfrm>
          <a:prstGeom prst="roundRect">
            <a:avLst>
              <a:gd name="adj" fmla="val 15009"/>
            </a:avLst>
          </a:prstGeom>
          <a:solidFill>
            <a:srgbClr val="484B51"/>
          </a:solidFill>
          <a:ln/>
        </p:spPr>
      </p:sp>
      <p:sp>
        <p:nvSpPr>
          <p:cNvPr id="20" name="Shape 15"/>
          <p:cNvSpPr/>
          <p:nvPr/>
        </p:nvSpPr>
        <p:spPr>
          <a:xfrm>
            <a:off x="1390412" y="5638681"/>
            <a:ext cx="521375" cy="521375"/>
          </a:xfrm>
          <a:prstGeom prst="roundRect">
            <a:avLst>
              <a:gd name="adj" fmla="val 87691"/>
            </a:avLst>
          </a:prstGeom>
          <a:solidFill>
            <a:srgbClr val="484B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0785" y="5769054"/>
            <a:ext cx="260628" cy="260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85499" y="5665827"/>
            <a:ext cx="2397562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Multi-Tank Management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2085499" y="6041588"/>
            <a:ext cx="1193661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dashboard supporting multiple tanks across different locations with coordinated control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1303496" y="6969323"/>
            <a:ext cx="173712" cy="782122"/>
          </a:xfrm>
          <a:prstGeom prst="roundRect">
            <a:avLst>
              <a:gd name="adj" fmla="val 15009"/>
            </a:avLst>
          </a:prstGeom>
          <a:solidFill>
            <a:srgbClr val="484B51"/>
          </a:solidFill>
          <a:ln/>
        </p:spPr>
      </p:sp>
      <p:sp>
        <p:nvSpPr>
          <p:cNvPr id="25" name="Shape 19"/>
          <p:cNvSpPr/>
          <p:nvPr/>
        </p:nvSpPr>
        <p:spPr>
          <a:xfrm>
            <a:off x="1129665" y="6855262"/>
            <a:ext cx="521375" cy="521375"/>
          </a:xfrm>
          <a:prstGeom prst="roundRect">
            <a:avLst>
              <a:gd name="adj" fmla="val 87691"/>
            </a:avLst>
          </a:prstGeom>
          <a:solidFill>
            <a:srgbClr val="484B5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60038" y="6985635"/>
            <a:ext cx="260628" cy="2606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24752" y="6882408"/>
            <a:ext cx="2172653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Quality Monitoring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824752" y="7258169"/>
            <a:ext cx="12197358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sensors for pH levels, turbidity, and contamination detection ensuring water safety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2025-12-18T09:32:49Z</dcterms:created>
  <dcterms:modified xsi:type="dcterms:W3CDTF">2025-12-18T09:32:49Z</dcterms:modified>
</cp:coreProperties>
</file>